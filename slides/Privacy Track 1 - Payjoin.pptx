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IBM Plex Sans"/>
      <p:regular r:id="rId30"/>
      <p:bold r:id="rId31"/>
      <p:italic r:id="rId32"/>
      <p:boldItalic r:id="rId33"/>
    </p:embeddedFont>
    <p:embeddedFont>
      <p:font typeface="Cormorant Unicase"/>
      <p:regular r:id="rId34"/>
      <p:bold r:id="rId35"/>
    </p:embeddedFont>
    <p:embeddedFont>
      <p:font typeface="Inter Light"/>
      <p:regular r:id="rId36"/>
      <p:bold r:id="rId37"/>
      <p:italic r:id="rId38"/>
      <p:boldItalic r:id="rId39"/>
    </p:embeddedFont>
    <p:embeddedFont>
      <p:font typeface="Inter SemiBold"/>
      <p:regular r:id="rId40"/>
      <p:bold r:id="rId41"/>
      <p:italic r:id="rId42"/>
      <p:boldItalic r:id="rId43"/>
    </p:embeddedFont>
    <p:embeddedFont>
      <p:font typeface="Inter"/>
      <p:regular r:id="rId44"/>
      <p:bold r:id="rId45"/>
      <p:italic r:id="rId46"/>
      <p:boldItalic r:id="rId47"/>
    </p:embeddedFont>
    <p:embeddedFont>
      <p:font typeface="DM Sans Light"/>
      <p:regular r:id="rId48"/>
      <p:bold r:id="rId49"/>
      <p:italic r:id="rId50"/>
      <p:boldItalic r:id="rId51"/>
    </p:embeddedFont>
    <p:embeddedFont>
      <p:font typeface="IBM Plex Sans SemiBold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SemiBold-regular.fntdata"/><Relationship Id="rId42" Type="http://schemas.openxmlformats.org/officeDocument/2006/relationships/font" Target="fonts/InterSemiBold-italic.fntdata"/><Relationship Id="rId41" Type="http://schemas.openxmlformats.org/officeDocument/2006/relationships/font" Target="fonts/InterSemiBold-bold.fntdata"/><Relationship Id="rId44" Type="http://schemas.openxmlformats.org/officeDocument/2006/relationships/font" Target="fonts/Inter-regular.fntdata"/><Relationship Id="rId43" Type="http://schemas.openxmlformats.org/officeDocument/2006/relationships/font" Target="fonts/InterSemiBold-boldItalic.fntdata"/><Relationship Id="rId46" Type="http://schemas.openxmlformats.org/officeDocument/2006/relationships/font" Target="fonts/Inter-italic.fntdata"/><Relationship Id="rId45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DMSansLight-regular.fntdata"/><Relationship Id="rId47" Type="http://schemas.openxmlformats.org/officeDocument/2006/relationships/font" Target="fonts/Inter-boldItalic.fntdata"/><Relationship Id="rId49" Type="http://schemas.openxmlformats.org/officeDocument/2006/relationships/font" Target="fonts/DMSans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-bold.fntdata"/><Relationship Id="rId30" Type="http://schemas.openxmlformats.org/officeDocument/2006/relationships/font" Target="fonts/IBMPlexSans-regular.fntdata"/><Relationship Id="rId33" Type="http://schemas.openxmlformats.org/officeDocument/2006/relationships/font" Target="fonts/IBMPlexSans-boldItalic.fntdata"/><Relationship Id="rId32" Type="http://schemas.openxmlformats.org/officeDocument/2006/relationships/font" Target="fonts/IBMPlexSans-italic.fntdata"/><Relationship Id="rId35" Type="http://schemas.openxmlformats.org/officeDocument/2006/relationships/font" Target="fonts/CormorantUnicase-bold.fntdata"/><Relationship Id="rId34" Type="http://schemas.openxmlformats.org/officeDocument/2006/relationships/font" Target="fonts/CormorantUnicase-regular.fntdata"/><Relationship Id="rId37" Type="http://schemas.openxmlformats.org/officeDocument/2006/relationships/font" Target="fonts/InterLight-bold.fntdata"/><Relationship Id="rId36" Type="http://schemas.openxmlformats.org/officeDocument/2006/relationships/font" Target="fonts/InterLight-regular.fntdata"/><Relationship Id="rId39" Type="http://schemas.openxmlformats.org/officeDocument/2006/relationships/font" Target="fonts/InterLight-boldItalic.fntdata"/><Relationship Id="rId38" Type="http://schemas.openxmlformats.org/officeDocument/2006/relationships/font" Target="fonts/InterLight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SansLight-boldItalic.fntdata"/><Relationship Id="rId50" Type="http://schemas.openxmlformats.org/officeDocument/2006/relationships/font" Target="fonts/DMSansLight-italic.fntdata"/><Relationship Id="rId53" Type="http://schemas.openxmlformats.org/officeDocument/2006/relationships/font" Target="fonts/IBMPlexSansSemiBold-bold.fntdata"/><Relationship Id="rId52" Type="http://schemas.openxmlformats.org/officeDocument/2006/relationships/font" Target="fonts/IBMPlexSansSemiBold-regular.fntdata"/><Relationship Id="rId11" Type="http://schemas.openxmlformats.org/officeDocument/2006/relationships/slide" Target="slides/slide5.xml"/><Relationship Id="rId55" Type="http://schemas.openxmlformats.org/officeDocument/2006/relationships/font" Target="fonts/IBMPlexSansSemiBold-boldItalic.fntdata"/><Relationship Id="rId10" Type="http://schemas.openxmlformats.org/officeDocument/2006/relationships/slide" Target="slides/slide4.xml"/><Relationship Id="rId54" Type="http://schemas.openxmlformats.org/officeDocument/2006/relationships/font" Target="fonts/IBMPlexSa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h70274e86dfb925db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h70274e86dfb925db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70274e86dfb925db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70274e86dfb925db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70274e86dfb925db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h70274e86dfb925db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7dd3fffc04b5c67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h7dd3fffc04b5c67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70274e86dfb925db_0_1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h70274e86dfb925db_0_1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21fa3a7fe4d45a6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h21fa3a7fe4d45a6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7dd3fffc04b5c67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h7dd3fffc04b5c67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h7dd3fffc04b5c67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h7dd3fffc04b5c67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h7dd3fffc04b5c67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h7dd3fffc04b5c67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7dd3fffc04b5c67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h7dd3fffc04b5c67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7dd3fffc04b5c67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h7dd3fffc04b5c67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h7dd3fffc04b5c67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h7dd3fffc04b5c67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7dd3fffc04b5c67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h7dd3fffc04b5c67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h7dd3fffc04b5c67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h7dd3fffc04b5c67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7dd3fffc04b5c67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h7dd3fffc04b5c67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21fa3a7fe4d45a6a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21fa3a7fe4d45a6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h7dd3fffc04b5c67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h7dd3fffc04b5c67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739f5cdb9e417927_3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h739f5cdb9e417927_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h7dd3fffc04b5c67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h7dd3fffc04b5c67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h7dd3fffc04b5c67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h7dd3fffc04b5c67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h21fa3a7fe4d45a6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h21fa3a7fe4d45a6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h7dd3fffc04b5c67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h7dd3fffc04b5c67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h7dd3fffc04b5c67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h7dd3fffc04b5c67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2203247" y="1300463"/>
            <a:ext cx="5202754" cy="2847400"/>
            <a:chOff x="2050847" y="1148063"/>
            <a:chExt cx="5202754" cy="2847400"/>
          </a:xfrm>
        </p:grpSpPr>
        <p:pic>
          <p:nvPicPr>
            <p:cNvPr descr="Smiling group of businesspeople working together in an office." id="14" name="Google Shape;14;p2"/>
            <p:cNvPicPr preferRelativeResize="0"/>
            <p:nvPr/>
          </p:nvPicPr>
          <p:blipFill rotWithShape="1">
            <a:blip r:embed="rId2">
              <a:alphaModFix/>
            </a:blip>
            <a:srcRect b="0" l="16663" r="16657" t="0"/>
            <a:stretch/>
          </p:blipFill>
          <p:spPr>
            <a:xfrm>
              <a:off x="4407199" y="1148063"/>
              <a:ext cx="2846403" cy="284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2"/>
            <p:cNvSpPr txBox="1"/>
            <p:nvPr/>
          </p:nvSpPr>
          <p:spPr>
            <a:xfrm>
              <a:off x="2050847" y="1274475"/>
              <a:ext cx="2089200" cy="16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522C05"/>
                  </a:solidFill>
                  <a:latin typeface="Cormorant Unicase"/>
                  <a:ea typeface="Cormorant Unicase"/>
                  <a:cs typeface="Cormorant Unicase"/>
                  <a:sym typeface="Cormorant Unicase"/>
                </a:rPr>
                <a:t>WE KEEP GROWING BY ADAPTING TO CHANGE</a:t>
              </a:r>
              <a:endParaRPr sz="2400">
                <a:solidFill>
                  <a:srgbClr val="522C05"/>
                </a:solidFill>
                <a:latin typeface="Cormorant Unicase"/>
                <a:ea typeface="Cormorant Unicase"/>
                <a:cs typeface="Cormorant Unicase"/>
                <a:sym typeface="Cormorant Unicase"/>
              </a:endParaRPr>
            </a:p>
          </p:txBody>
        </p:sp>
        <p:sp>
          <p:nvSpPr>
            <p:cNvPr id="16" name="Google Shape;16;p2"/>
            <p:cNvSpPr txBox="1"/>
            <p:nvPr/>
          </p:nvSpPr>
          <p:spPr>
            <a:xfrm>
              <a:off x="2050847" y="2982176"/>
              <a:ext cx="2089200" cy="86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8275" lIns="18275" spcFirstLastPara="1" rIns="18275" wrap="square" tIns="1827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22C05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Flexibility is behind everything we do. We analyze what’s happening in the world and the market and offer timely solutions. </a:t>
              </a:r>
              <a:endParaRPr sz="1000">
                <a:solidFill>
                  <a:srgbClr val="522C05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  <p:sp>
          <p:nvSpPr>
            <p:cNvPr descr="Two people sculpt a piece of pottery on a wheel" id="17" name="Google Shape;17;p2"/>
            <p:cNvSpPr/>
            <p:nvPr/>
          </p:nvSpPr>
          <p:spPr>
            <a:xfrm>
              <a:off x="4407197" y="1149050"/>
              <a:ext cx="2846400" cy="2846400"/>
            </a:xfrm>
            <a:prstGeom prst="flowChartConnector">
              <a:avLst/>
            </a:prstGeom>
            <a:noFill/>
            <a:ln cap="flat" cmpd="sng" w="9525">
              <a:solidFill>
                <a:srgbClr val="F9EF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rmorant Unicase"/>
                <a:ea typeface="Cormorant Unicase"/>
                <a:cs typeface="Cormorant Unicase"/>
                <a:sym typeface="Cormorant Unicase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SemiBold"/>
              <a:buNone/>
              <a:defRPr b="0" sz="1800">
                <a:solidFill>
                  <a:schemeClr val="lt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62" name="Google Shape;62;p1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4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64" name="Google Shape;64;p14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Divider Slide">
  <p:cSld name="CUSTOM_3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SemiBold"/>
              <a:buNone/>
              <a:defRPr b="0" sz="1800">
                <a:solidFill>
                  <a:schemeClr val="lt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5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71" name="Google Shape;71;p15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/ Mission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5039775" y="203250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cxnSp>
        <p:nvCxnSpPr>
          <p:cNvPr id="74" name="Google Shape;74;p1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76" name="Google Shape;76;p16"/>
          <p:cNvSpPr/>
          <p:nvPr>
            <p:ph idx="3" type="pic"/>
          </p:nvPr>
        </p:nvSpPr>
        <p:spPr>
          <a:xfrm>
            <a:off x="5039775" y="2624675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" type="tx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7"/>
          <p:cNvSpPr txBox="1"/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2" type="title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SemiBold"/>
              <a:buNone/>
              <a:defRPr b="0" sz="1800">
                <a:solidFill>
                  <a:schemeClr val="lt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Model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6" name="Google Shape;86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8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5605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1131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3" name="Google Shape;93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9"/>
          <p:cNvSpPr txBox="1"/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6" name="Google Shape;96;p19"/>
          <p:cNvSpPr txBox="1"/>
          <p:nvPr>
            <p:ph idx="2" type="body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7" name="Google Shape;97;p19"/>
          <p:cNvSpPr txBox="1"/>
          <p:nvPr>
            <p:ph idx="3" type="body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8" name="Google Shape;98;p19"/>
          <p:cNvSpPr txBox="1"/>
          <p:nvPr>
            <p:ph idx="4" type="body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9" name="Google Shape;99;p19"/>
          <p:cNvSpPr txBox="1"/>
          <p:nvPr>
            <p:ph idx="5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dvantage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2" name="Google Shape;102;p2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20"/>
          <p:cNvSpPr txBox="1"/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04" name="Google Shape;104;p20"/>
          <p:cNvSpPr/>
          <p:nvPr>
            <p:ph idx="2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>
            <p:ph idx="2" type="pic"/>
          </p:nvPr>
        </p:nvSpPr>
        <p:spPr>
          <a:xfrm>
            <a:off x="5663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09" name="Google Shape;109;p21"/>
          <p:cNvSpPr/>
          <p:nvPr>
            <p:ph idx="3" type="pic"/>
          </p:nvPr>
        </p:nvSpPr>
        <p:spPr>
          <a:xfrm>
            <a:off x="2588275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10" name="Google Shape;110;p21"/>
          <p:cNvSpPr/>
          <p:nvPr>
            <p:ph idx="4" type="pic"/>
          </p:nvPr>
        </p:nvSpPr>
        <p:spPr>
          <a:xfrm>
            <a:off x="4613113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11" name="Google Shape;111;p21"/>
          <p:cNvSpPr/>
          <p:nvPr>
            <p:ph idx="5" type="pic"/>
          </p:nvPr>
        </p:nvSpPr>
        <p:spPr>
          <a:xfrm>
            <a:off x="66379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cxnSp>
        <p:nvCxnSpPr>
          <p:cNvPr id="112" name="Google Shape;112;p2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21"/>
          <p:cNvSpPr txBox="1"/>
          <p:nvPr>
            <p:ph type="title"/>
          </p:nvPr>
        </p:nvSpPr>
        <p:spPr>
          <a:xfrm>
            <a:off x="450850" y="596800"/>
            <a:ext cx="67677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1" type="subTitle"/>
          </p:nvPr>
        </p:nvSpPr>
        <p:spPr>
          <a:xfrm>
            <a:off x="5663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idx="6" type="subTitle"/>
          </p:nvPr>
        </p:nvSpPr>
        <p:spPr>
          <a:xfrm>
            <a:off x="2588275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7" type="subTitle"/>
          </p:nvPr>
        </p:nvSpPr>
        <p:spPr>
          <a:xfrm>
            <a:off x="4613113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8" type="subTitle"/>
          </p:nvPr>
        </p:nvSpPr>
        <p:spPr>
          <a:xfrm>
            <a:off x="66379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rrent Market / Market Size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1" name="Google Shape;121;p2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675475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2" type="body"/>
          </p:nvPr>
        </p:nvSpPr>
        <p:spPr>
          <a:xfrm>
            <a:off x="604925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3" type="subTitle"/>
          </p:nvPr>
        </p:nvSpPr>
        <p:spPr>
          <a:xfrm>
            <a:off x="3885400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4" type="body"/>
          </p:nvPr>
        </p:nvSpPr>
        <p:spPr>
          <a:xfrm>
            <a:off x="3814850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7024719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6" type="body"/>
          </p:nvPr>
        </p:nvSpPr>
        <p:spPr>
          <a:xfrm>
            <a:off x="6954219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450850" y="596800"/>
            <a:ext cx="6767700" cy="12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SECTION_TITLE_AND_DESCRIPTION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31" name="Google Shape;131;p2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3"/>
          <p:cNvSpPr txBox="1"/>
          <p:nvPr>
            <p:ph idx="1" type="subTitle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body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34" name="Google Shape;134;p23"/>
          <p:cNvCxnSpPr>
            <a:endCxn id="135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3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3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23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23"/>
          <p:cNvSpPr txBox="1"/>
          <p:nvPr>
            <p:ph idx="3" type="subTitle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4" type="body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5" type="subTitle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6" type="body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23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fmla="val 7414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F6F5EC"/>
              </a:solidFill>
            </a:endParaRPr>
          </a:p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7" type="body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/ Graph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2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4"/>
          <p:cNvSpPr txBox="1"/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Header">
  <p:cSld name="BIG_NUMB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/>
          <p:nvPr>
            <p:ph idx="2" type="pic"/>
          </p:nvPr>
        </p:nvSpPr>
        <p:spPr>
          <a:xfrm>
            <a:off x="213750" y="586950"/>
            <a:ext cx="8701800" cy="2327100"/>
          </a:xfrm>
          <a:prstGeom prst="roundRect">
            <a:avLst>
              <a:gd fmla="val 3913" name="adj"/>
            </a:avLst>
          </a:prstGeom>
          <a:noFill/>
          <a:ln>
            <a:noFill/>
          </a:ln>
        </p:spPr>
      </p:sp>
      <p:sp>
        <p:nvSpPr>
          <p:cNvPr id="154" name="Google Shape;154;p25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55" name="Google Shape;155;p2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2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Strategy" type="blank">
  <p:cSld name="BLANK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>
            <p:ph idx="2" type="pic"/>
          </p:nvPr>
        </p:nvSpPr>
        <p:spPr>
          <a:xfrm>
            <a:off x="6445900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sp>
        <p:nvSpPr>
          <p:cNvPr id="161" name="Google Shape;161;p26"/>
          <p:cNvSpPr/>
          <p:nvPr>
            <p:ph idx="3" type="pic"/>
          </p:nvPr>
        </p:nvSpPr>
        <p:spPr>
          <a:xfrm>
            <a:off x="4210025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cxnSp>
        <p:nvCxnSpPr>
          <p:cNvPr id="162" name="Google Shape;162;p2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6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26"/>
          <p:cNvSpPr txBox="1"/>
          <p:nvPr>
            <p:ph idx="1" type="subTitle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26"/>
          <p:cNvSpPr txBox="1"/>
          <p:nvPr>
            <p:ph idx="4" type="body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5" type="subTitle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6" type="body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8" name="Google Shape;168;p26"/>
          <p:cNvSpPr txBox="1"/>
          <p:nvPr>
            <p:ph idx="7" type="body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TITLE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p2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7"/>
          <p:cNvSpPr txBox="1"/>
          <p:nvPr>
            <p:ph type="title"/>
          </p:nvPr>
        </p:nvSpPr>
        <p:spPr>
          <a:xfrm>
            <a:off x="452575" y="596800"/>
            <a:ext cx="44181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73" name="Google Shape;173;p27"/>
          <p:cNvSpPr txBox="1"/>
          <p:nvPr>
            <p:ph idx="1" type="subTitle"/>
          </p:nvPr>
        </p:nvSpPr>
        <p:spPr>
          <a:xfrm>
            <a:off x="46782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74" name="Google Shape;174;p27"/>
          <p:cNvSpPr txBox="1"/>
          <p:nvPr>
            <p:ph idx="2" type="body"/>
          </p:nvPr>
        </p:nvSpPr>
        <p:spPr>
          <a:xfrm>
            <a:off x="39162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75" name="Google Shape;175;p27"/>
          <p:cNvSpPr txBox="1"/>
          <p:nvPr>
            <p:ph idx="3" type="subTitle"/>
          </p:nvPr>
        </p:nvSpPr>
        <p:spPr>
          <a:xfrm>
            <a:off x="3052450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76" name="Google Shape;176;p27"/>
          <p:cNvSpPr txBox="1"/>
          <p:nvPr>
            <p:ph idx="4" type="body"/>
          </p:nvPr>
        </p:nvSpPr>
        <p:spPr>
          <a:xfrm>
            <a:off x="2976250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77" name="Google Shape;177;p27"/>
          <p:cNvSpPr txBox="1"/>
          <p:nvPr>
            <p:ph idx="5" type="subTitle"/>
          </p:nvPr>
        </p:nvSpPr>
        <p:spPr>
          <a:xfrm>
            <a:off x="563707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78" name="Google Shape;178;p27"/>
          <p:cNvSpPr txBox="1"/>
          <p:nvPr>
            <p:ph idx="6" type="body"/>
          </p:nvPr>
        </p:nvSpPr>
        <p:spPr>
          <a:xfrm>
            <a:off x="556087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79" name="Google Shape;179;p27"/>
          <p:cNvSpPr txBox="1"/>
          <p:nvPr>
            <p:ph idx="7" type="subTitle"/>
          </p:nvPr>
        </p:nvSpPr>
        <p:spPr>
          <a:xfrm>
            <a:off x="46782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0" name="Google Shape;180;p27"/>
          <p:cNvSpPr txBox="1"/>
          <p:nvPr>
            <p:ph idx="8" type="body"/>
          </p:nvPr>
        </p:nvSpPr>
        <p:spPr>
          <a:xfrm>
            <a:off x="39162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1" name="Google Shape;181;p27"/>
          <p:cNvSpPr txBox="1"/>
          <p:nvPr>
            <p:ph idx="9" type="subTitle"/>
          </p:nvPr>
        </p:nvSpPr>
        <p:spPr>
          <a:xfrm>
            <a:off x="3052450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2" name="Google Shape;182;p27"/>
          <p:cNvSpPr txBox="1"/>
          <p:nvPr>
            <p:ph idx="13" type="body"/>
          </p:nvPr>
        </p:nvSpPr>
        <p:spPr>
          <a:xfrm>
            <a:off x="2976250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3" name="Google Shape;183;p27"/>
          <p:cNvSpPr txBox="1"/>
          <p:nvPr>
            <p:ph idx="14" type="subTitle"/>
          </p:nvPr>
        </p:nvSpPr>
        <p:spPr>
          <a:xfrm>
            <a:off x="563707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4" name="Google Shape;184;p27"/>
          <p:cNvSpPr txBox="1"/>
          <p:nvPr>
            <p:ph idx="15" type="body"/>
          </p:nvPr>
        </p:nvSpPr>
        <p:spPr>
          <a:xfrm>
            <a:off x="556087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/ Benefits">
  <p:cSld name="CUSTOM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8" name="Google Shape;188;p2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8"/>
          <p:cNvSpPr txBox="1"/>
          <p:nvPr>
            <p:ph type="title"/>
          </p:nvPr>
        </p:nvSpPr>
        <p:spPr>
          <a:xfrm>
            <a:off x="452575" y="633600"/>
            <a:ext cx="3954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9pPr>
          </a:lstStyle>
          <a:p/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91" name="Google Shape;191;p28"/>
          <p:cNvSpPr txBox="1"/>
          <p:nvPr>
            <p:ph idx="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/>
          <p:nvPr>
            <p:ph idx="2" type="pic"/>
          </p:nvPr>
        </p:nvSpPr>
        <p:spPr>
          <a:xfrm>
            <a:off x="2118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  <p:sp>
        <p:nvSpPr>
          <p:cNvPr id="194" name="Google Shape;194;p29"/>
          <p:cNvSpPr/>
          <p:nvPr>
            <p:ph idx="3" type="pic"/>
          </p:nvPr>
        </p:nvSpPr>
        <p:spPr>
          <a:xfrm>
            <a:off x="46397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Competition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/>
          <p:nvPr>
            <p:ph idx="2" type="pic"/>
          </p:nvPr>
        </p:nvSpPr>
        <p:spPr>
          <a:xfrm>
            <a:off x="40147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97" name="Google Shape;197;p30"/>
          <p:cNvSpPr/>
          <p:nvPr>
            <p:ph idx="3" type="pic"/>
          </p:nvPr>
        </p:nvSpPr>
        <p:spPr>
          <a:xfrm>
            <a:off x="568857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98" name="Google Shape;198;p30"/>
          <p:cNvSpPr/>
          <p:nvPr>
            <p:ph idx="4" type="pic"/>
          </p:nvPr>
        </p:nvSpPr>
        <p:spPr>
          <a:xfrm>
            <a:off x="73624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99" name="Google Shape;199;p30"/>
          <p:cNvSpPr/>
          <p:nvPr>
            <p:ph idx="5" type="pic"/>
          </p:nvPr>
        </p:nvSpPr>
        <p:spPr>
          <a:xfrm>
            <a:off x="40147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00" name="Google Shape;200;p30"/>
          <p:cNvSpPr/>
          <p:nvPr>
            <p:ph idx="6" type="pic"/>
          </p:nvPr>
        </p:nvSpPr>
        <p:spPr>
          <a:xfrm>
            <a:off x="568857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01" name="Google Shape;201;p30"/>
          <p:cNvSpPr/>
          <p:nvPr>
            <p:ph idx="7" type="pic"/>
          </p:nvPr>
        </p:nvSpPr>
        <p:spPr>
          <a:xfrm>
            <a:off x="73624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cxnSp>
        <p:nvCxnSpPr>
          <p:cNvPr id="202" name="Google Shape;202;p3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30"/>
          <p:cNvSpPr txBox="1"/>
          <p:nvPr>
            <p:ph type="title"/>
          </p:nvPr>
        </p:nvSpPr>
        <p:spPr>
          <a:xfrm>
            <a:off x="452575" y="596800"/>
            <a:ext cx="32625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204" name="Google Shape;204;p30"/>
          <p:cNvSpPr txBox="1"/>
          <p:nvPr>
            <p:ph idx="1" type="subTitle"/>
          </p:nvPr>
        </p:nvSpPr>
        <p:spPr>
          <a:xfrm>
            <a:off x="452575" y="1956400"/>
            <a:ext cx="26160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05" name="Google Shape;205;p30"/>
          <p:cNvSpPr txBox="1"/>
          <p:nvPr>
            <p:ph idx="8" type="body"/>
          </p:nvPr>
        </p:nvSpPr>
        <p:spPr>
          <a:xfrm>
            <a:off x="467825" y="2583700"/>
            <a:ext cx="32472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9" type="subTitle"/>
          </p:nvPr>
        </p:nvSpPr>
        <p:spPr>
          <a:xfrm>
            <a:off x="40147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07" name="Google Shape;207;p30"/>
          <p:cNvSpPr txBox="1"/>
          <p:nvPr>
            <p:ph idx="13" type="subTitle"/>
          </p:nvPr>
        </p:nvSpPr>
        <p:spPr>
          <a:xfrm>
            <a:off x="568857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08" name="Google Shape;208;p30"/>
          <p:cNvSpPr txBox="1"/>
          <p:nvPr>
            <p:ph idx="14" type="subTitle"/>
          </p:nvPr>
        </p:nvSpPr>
        <p:spPr>
          <a:xfrm>
            <a:off x="73624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09" name="Google Shape;209;p30"/>
          <p:cNvSpPr txBox="1"/>
          <p:nvPr>
            <p:ph idx="15" type="subTitle"/>
          </p:nvPr>
        </p:nvSpPr>
        <p:spPr>
          <a:xfrm>
            <a:off x="40147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10" name="Google Shape;210;p30"/>
          <p:cNvSpPr txBox="1"/>
          <p:nvPr>
            <p:ph idx="16" type="subTitle"/>
          </p:nvPr>
        </p:nvSpPr>
        <p:spPr>
          <a:xfrm>
            <a:off x="568857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11" name="Google Shape;211;p30"/>
          <p:cNvSpPr txBox="1"/>
          <p:nvPr>
            <p:ph idx="17" type="subTitle"/>
          </p:nvPr>
        </p:nvSpPr>
        <p:spPr>
          <a:xfrm>
            <a:off x="73624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12" name="Google Shape;212;p30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/>
          <p:nvPr>
            <p:ph idx="2" type="pic"/>
          </p:nvPr>
        </p:nvSpPr>
        <p:spPr>
          <a:xfrm>
            <a:off x="2286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15" name="Google Shape;215;p31"/>
          <p:cNvSpPr/>
          <p:nvPr>
            <p:ph idx="3" type="pic"/>
          </p:nvPr>
        </p:nvSpPr>
        <p:spPr>
          <a:xfrm>
            <a:off x="39319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16" name="Google Shape;216;p31"/>
          <p:cNvSpPr/>
          <p:nvPr>
            <p:ph idx="4" type="pic"/>
          </p:nvPr>
        </p:nvSpPr>
        <p:spPr>
          <a:xfrm>
            <a:off x="7635600" y="59262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17" name="Google Shape;217;p31"/>
          <p:cNvSpPr/>
          <p:nvPr>
            <p:ph idx="5" type="pic"/>
          </p:nvPr>
        </p:nvSpPr>
        <p:spPr>
          <a:xfrm>
            <a:off x="25753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8" name="Google Shape;218;p31"/>
          <p:cNvSpPr/>
          <p:nvPr>
            <p:ph idx="6" type="pic"/>
          </p:nvPr>
        </p:nvSpPr>
        <p:spPr>
          <a:xfrm>
            <a:off x="62788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9" name="Google Shape;219;p31"/>
          <p:cNvSpPr/>
          <p:nvPr>
            <p:ph idx="7" type="pic"/>
          </p:nvPr>
        </p:nvSpPr>
        <p:spPr>
          <a:xfrm>
            <a:off x="2286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0" name="Google Shape;220;p31"/>
          <p:cNvSpPr/>
          <p:nvPr>
            <p:ph idx="8" type="pic"/>
          </p:nvPr>
        </p:nvSpPr>
        <p:spPr>
          <a:xfrm>
            <a:off x="1545425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21" name="Google Shape;221;p31"/>
          <p:cNvSpPr/>
          <p:nvPr>
            <p:ph idx="9" type="pic"/>
          </p:nvPr>
        </p:nvSpPr>
        <p:spPr>
          <a:xfrm>
            <a:off x="3932063" y="1963950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22" name="Google Shape;222;p31"/>
          <p:cNvSpPr/>
          <p:nvPr>
            <p:ph idx="13" type="pic"/>
          </p:nvPr>
        </p:nvSpPr>
        <p:spPr>
          <a:xfrm>
            <a:off x="5248888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23" name="Google Shape;223;p31"/>
          <p:cNvSpPr/>
          <p:nvPr>
            <p:ph idx="14" type="pic"/>
          </p:nvPr>
        </p:nvSpPr>
        <p:spPr>
          <a:xfrm>
            <a:off x="75557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4" name="Google Shape;224;p31"/>
          <p:cNvSpPr/>
          <p:nvPr>
            <p:ph idx="15" type="pic"/>
          </p:nvPr>
        </p:nvSpPr>
        <p:spPr>
          <a:xfrm>
            <a:off x="2286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25" name="Google Shape;225;p31"/>
          <p:cNvSpPr/>
          <p:nvPr>
            <p:ph idx="16" type="pic"/>
          </p:nvPr>
        </p:nvSpPr>
        <p:spPr>
          <a:xfrm>
            <a:off x="39319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26" name="Google Shape;226;p31"/>
          <p:cNvSpPr/>
          <p:nvPr>
            <p:ph idx="17" type="pic"/>
          </p:nvPr>
        </p:nvSpPr>
        <p:spPr>
          <a:xfrm>
            <a:off x="7635600" y="333527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27" name="Google Shape;227;p31"/>
          <p:cNvSpPr/>
          <p:nvPr>
            <p:ph idx="18" type="pic"/>
          </p:nvPr>
        </p:nvSpPr>
        <p:spPr>
          <a:xfrm>
            <a:off x="25753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8" name="Google Shape;228;p31"/>
          <p:cNvSpPr/>
          <p:nvPr>
            <p:ph idx="19" type="pic"/>
          </p:nvPr>
        </p:nvSpPr>
        <p:spPr>
          <a:xfrm>
            <a:off x="62788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9" name="Google Shape;229;p31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230" name="Google Shape;230;p3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3" name="Google Shape;233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7" name="Google Shape;23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1" name="Google Shape;24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4" name="Google Shape;244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5" name="Google Shape;245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6" name="Google Shape;24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9" name="Google Shape;24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2" name="Google Shape;252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3" name="Google Shape;25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6" name="Google Shape;25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0" name="Google Shape;260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1" name="Google Shape;261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2" name="Google Shape;26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265" name="Google Shape;26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8" name="Google Shape;268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9" name="Google Shape;26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4" name="Google Shape;27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" name="Google Shape;277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3" name="Google Shape;283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4" name="Google Shape;284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bg>
      <p:bgPr>
        <a:solidFill>
          <a:schemeClr val="l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9" name="Google Shape;289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0" name="Google Shape;290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1" name="Google Shape;291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6" name="Google Shape;296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4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9" name="Google Shape;299;p4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4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4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bg>
      <p:bgPr>
        <a:solidFill>
          <a:schemeClr val="lt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9" name="Google Shape;30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5" name="Google Shape;31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9" name="Google Shape;319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2" name="Google Shape;32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4" name="Google Shape;324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25" name="Google Shape;325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bg>
      <p:bgPr>
        <a:solidFill>
          <a:schemeClr val="lt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8" name="Google Shape;328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35" name="Google Shape;335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36" name="Google Shape;336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bg>
      <p:bgPr>
        <a:solidFill>
          <a:schemeClr val="lt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bg>
      <p:bgPr>
        <a:solidFill>
          <a:schemeClr val="l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50" name="Google Shape;350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7157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7157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308925" y="278025"/>
            <a:ext cx="44484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BM Plex Sans"/>
              <a:buNone/>
              <a:defRPr b="1" sz="4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4613175" y="2780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●"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○"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■"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●"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○"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■"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●"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○"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■"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hyperlink" Target="https://coldcard.com/learn/bitcoin-privacy/what-is-payjoin" TargetMode="External"/><Relationship Id="rId5" Type="http://schemas.openxmlformats.org/officeDocument/2006/relationships/hyperlink" Target="https://www.bullbitcoin.com/blog/what-is-payjoin-bitcoin-privacy-explained" TargetMode="External"/><Relationship Id="rId6" Type="http://schemas.openxmlformats.org/officeDocument/2006/relationships/hyperlink" Target="https://www.youtube.com/watch?v=hX86rKyNB8I" TargetMode="External"/><Relationship Id="rId7" Type="http://schemas.openxmlformats.org/officeDocument/2006/relationships/hyperlink" Target="https://www.youtube.com/watch?v=pybCDYbrgeQ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hyperlink" Target="https://github.com/payjoin" TargetMode="External"/><Relationship Id="rId5" Type="http://schemas.openxmlformats.org/officeDocument/2006/relationships/hyperlink" Target="https://github.com/ValeraFinebits/btcpayserver-payjoin-plugin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hyperlink" Target="https://www.justice.gov/usao-dc/pr/operator-bitcoin-fog-sentenced-more-12-years-prison-running-notorious-darknet" TargetMode="External"/><Relationship Id="rId5" Type="http://schemas.openxmlformats.org/officeDocument/2006/relationships/hyperlink" Target="https://amlnetwork.org/watchdog-database/cryptocurrency-laundering/bitcoin-fog-cryptocurrency-mix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53" title="privacylogo3.png"/>
          <p:cNvPicPr preferRelativeResize="0"/>
          <p:nvPr/>
        </p:nvPicPr>
        <p:blipFill rotWithShape="1">
          <a:blip r:embed="rId3">
            <a:alphaModFix amt="20000"/>
          </a:blip>
          <a:srcRect b="30117" l="26113" r="23882" t="16627"/>
          <a:stretch/>
        </p:blipFill>
        <p:spPr>
          <a:xfrm>
            <a:off x="1442425" y="-72425"/>
            <a:ext cx="9376773" cy="54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3"/>
          <p:cNvSpPr txBox="1"/>
          <p:nvPr>
            <p:ph type="title"/>
          </p:nvPr>
        </p:nvSpPr>
        <p:spPr>
          <a:xfrm>
            <a:off x="420875" y="1705496"/>
            <a:ext cx="43248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Payjoin</a:t>
            </a:r>
            <a:endParaRPr b="0"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59" name="Google Shape;359;p53"/>
          <p:cNvSpPr txBox="1"/>
          <p:nvPr>
            <p:ph idx="2" type="title"/>
          </p:nvPr>
        </p:nvSpPr>
        <p:spPr>
          <a:xfrm>
            <a:off x="420875" y="3318660"/>
            <a:ext cx="4036500" cy="9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the common input ownership heuristic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Oct 2026</a:t>
            </a:r>
            <a:endParaRPr/>
          </a:p>
        </p:txBody>
      </p:sp>
      <p:pic>
        <p:nvPicPr>
          <p:cNvPr id="360" name="Google Shape;360;p53" title="privacy_track_poster3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352" l="0" r="0" t="1352"/>
          <a:stretch/>
        </p:blipFill>
        <p:spPr>
          <a:xfrm>
            <a:off x="5039775" y="196800"/>
            <a:ext cx="3905400" cy="4749900"/>
          </a:xfrm>
          <a:prstGeom prst="roundRect">
            <a:avLst>
              <a:gd fmla="val 16667" name="adj"/>
            </a:avLst>
          </a:prstGeom>
        </p:spPr>
      </p:pic>
      <p:sp>
        <p:nvSpPr>
          <p:cNvPr id="361" name="Google Shape;361;p53"/>
          <p:cNvSpPr/>
          <p:nvPr/>
        </p:nvSpPr>
        <p:spPr>
          <a:xfrm>
            <a:off x="560525" y="1083400"/>
            <a:ext cx="2282400" cy="410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PRIVACY TRACK 2026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54" title="privacylogo3.png"/>
          <p:cNvPicPr preferRelativeResize="0"/>
          <p:nvPr/>
        </p:nvPicPr>
        <p:blipFill rotWithShape="1">
          <a:blip r:embed="rId3">
            <a:alphaModFix amt="20000"/>
          </a:blip>
          <a:srcRect b="30117" l="26113" r="23882" t="16627"/>
          <a:stretch/>
        </p:blipFill>
        <p:spPr>
          <a:xfrm>
            <a:off x="1442425" y="-72425"/>
            <a:ext cx="9376773" cy="54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4"/>
          <p:cNvSpPr txBox="1"/>
          <p:nvPr>
            <p:ph type="title"/>
          </p:nvPr>
        </p:nvSpPr>
        <p:spPr>
          <a:xfrm>
            <a:off x="420875" y="1705496"/>
            <a:ext cx="43248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Get notified of all discord messages</a:t>
            </a:r>
            <a:endParaRPr/>
          </a:p>
        </p:txBody>
      </p:sp>
      <p:pic>
        <p:nvPicPr>
          <p:cNvPr id="368" name="Google Shape;368;p54" title="step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8075" y="436400"/>
            <a:ext cx="4728475" cy="427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4"/>
          <p:cNvSpPr/>
          <p:nvPr/>
        </p:nvSpPr>
        <p:spPr>
          <a:xfrm>
            <a:off x="560525" y="1083400"/>
            <a:ext cx="2282400" cy="410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PRIVACY TRACK 2026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1578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55" title="privacylogo3.png"/>
          <p:cNvPicPr preferRelativeResize="0"/>
          <p:nvPr/>
        </p:nvPicPr>
        <p:blipFill rotWithShape="1">
          <a:blip r:embed="rId3">
            <a:alphaModFix amt="10000"/>
          </a:blip>
          <a:srcRect b="30117" l="26113" r="23882" t="16627"/>
          <a:stretch/>
        </p:blipFill>
        <p:spPr>
          <a:xfrm>
            <a:off x="1442425" y="-72425"/>
            <a:ext cx="9376773" cy="54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Quizzes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6" name="Google Shape;376;p5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Present privacy issues in bitcoin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7" name="Google Shape;377;p5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 present and future of solutions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8" name="Google Shape;378;p5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Guidance for becoming a contributor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9" name="Google Shape;379;p5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CTFs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80" name="Google Shape;380;p5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Coding labs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81" name="Google Shape;381;p55"/>
          <p:cNvSpPr txBox="1"/>
          <p:nvPr>
            <p:ph type="title"/>
          </p:nvPr>
        </p:nvSpPr>
        <p:spPr>
          <a:xfrm>
            <a:off x="396025" y="1832775"/>
            <a:ext cx="34986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Expectations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637075" y="393750"/>
            <a:ext cx="82509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 Fog case</a:t>
            </a:r>
            <a:endParaRPr/>
          </a:p>
        </p:txBody>
      </p:sp>
      <p:pic>
        <p:nvPicPr>
          <p:cNvPr id="387" name="Google Shape;387;p56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6"/>
          <p:cNvSpPr txBox="1"/>
          <p:nvPr/>
        </p:nvSpPr>
        <p:spPr>
          <a:xfrm>
            <a:off x="637075" y="1832850"/>
            <a:ext cx="7872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Bitcoin mixer between 2011-2021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Sterlingov was found guilty of: </a:t>
            </a:r>
            <a:r>
              <a:rPr b="1"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conspiracy, sting money laundering, operating an unlicensed money transmitting business</a:t>
            </a:r>
            <a:endParaRPr b="1"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Moved more than 1.2 milllion btc ($400 million)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Chainalysis and IRS CI tracing methods used by investigators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Was it really chain analysis? We don’t know.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https://x.com/tayvano_/status/1387396128325263363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7"/>
          <p:cNvSpPr txBox="1"/>
          <p:nvPr>
            <p:ph type="title"/>
          </p:nvPr>
        </p:nvSpPr>
        <p:spPr>
          <a:xfrm>
            <a:off x="637075" y="393750"/>
            <a:ext cx="82509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input heuristic</a:t>
            </a:r>
            <a:endParaRPr/>
          </a:p>
        </p:txBody>
      </p:sp>
      <p:pic>
        <p:nvPicPr>
          <p:cNvPr id="394" name="Google Shape;394;p57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7" title="common_input_ownershi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7252" y="1595425"/>
            <a:ext cx="6089499" cy="31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8"/>
          <p:cNvSpPr txBox="1"/>
          <p:nvPr>
            <p:ph type="title"/>
          </p:nvPr>
        </p:nvSpPr>
        <p:spPr>
          <a:xfrm>
            <a:off x="637075" y="393750"/>
            <a:ext cx="82509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output detection</a:t>
            </a:r>
            <a:endParaRPr/>
          </a:p>
        </p:txBody>
      </p:sp>
      <p:pic>
        <p:nvPicPr>
          <p:cNvPr id="401" name="Google Shape;401;p58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8" title="change_output_transpar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1500" y="2295875"/>
            <a:ext cx="5380980" cy="14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9"/>
          <p:cNvSpPr txBox="1"/>
          <p:nvPr>
            <p:ph type="title"/>
          </p:nvPr>
        </p:nvSpPr>
        <p:spPr>
          <a:xfrm>
            <a:off x="637075" y="393750"/>
            <a:ext cx="82509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Payjoin (P2EP)</a:t>
            </a:r>
            <a:endParaRPr/>
          </a:p>
        </p:txBody>
      </p:sp>
      <p:pic>
        <p:nvPicPr>
          <p:cNvPr id="408" name="Google Shape;408;p59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9"/>
          <p:cNvSpPr txBox="1"/>
          <p:nvPr/>
        </p:nvSpPr>
        <p:spPr>
          <a:xfrm>
            <a:off x="637075" y="1832850"/>
            <a:ext cx="7872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if some of the inputs come from the receiver?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sender asks the receiver for additional inputs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Two outputs: one for the sender, one for the receiver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a way, both outputs are “change outputs”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Payjoin v2 (Async Payjoin)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415" name="Google Shape;415;p60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60"/>
          <p:cNvSpPr txBox="1"/>
          <p:nvPr/>
        </p:nvSpPr>
        <p:spPr>
          <a:xfrm>
            <a:off x="635700" y="1607475"/>
            <a:ext cx="787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Alice wants to send 1 btc to Bob and has a 2.01 btc UTXO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Bob has a 3 btc UTXO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17" name="Google Shape;417;p60" title="payjoin_example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475" y="2813175"/>
            <a:ext cx="6364001" cy="19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1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Analysis: Case I</a:t>
            </a:r>
            <a:endParaRPr/>
          </a:p>
        </p:txBody>
      </p:sp>
      <p:pic>
        <p:nvPicPr>
          <p:cNvPr id="423" name="Google Shape;423;p61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61"/>
          <p:cNvSpPr txBox="1"/>
          <p:nvPr/>
        </p:nvSpPr>
        <p:spPr>
          <a:xfrm>
            <a:off x="635700" y="1607475"/>
            <a:ext cx="787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Alice sends 1 btc to Bob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25" name="Google Shape;425;p61" title="payjoin_exampl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725" y="2638825"/>
            <a:ext cx="7174549" cy="193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2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Analysis: Case II</a:t>
            </a:r>
            <a:endParaRPr/>
          </a:p>
        </p:txBody>
      </p:sp>
      <p:pic>
        <p:nvPicPr>
          <p:cNvPr id="431" name="Google Shape;431;p62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62"/>
          <p:cNvSpPr txBox="1"/>
          <p:nvPr/>
        </p:nvSpPr>
        <p:spPr>
          <a:xfrm>
            <a:off x="635700" y="1607475"/>
            <a:ext cx="787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Bob sends 2 btc to Alice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33" name="Google Shape;433;p62" title="payjoin_example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725" y="2632700"/>
            <a:ext cx="7174550" cy="1936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63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3" title="payjoin_conclus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863" y="413800"/>
            <a:ext cx="8294275" cy="342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4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challenge</a:t>
            </a:r>
            <a:endParaRPr/>
          </a:p>
        </p:txBody>
      </p:sp>
      <p:pic>
        <p:nvPicPr>
          <p:cNvPr id="445" name="Google Shape;445;p64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4"/>
          <p:cNvSpPr txBox="1"/>
          <p:nvPr/>
        </p:nvSpPr>
        <p:spPr>
          <a:xfrm>
            <a:off x="635700" y="1607475"/>
            <a:ext cx="7872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Bustapay (BIP 79) was proposed in 2018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did it take so long?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Extra communication is needed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5"/>
          <p:cNvSpPr txBox="1"/>
          <p:nvPr>
            <p:ph type="title"/>
          </p:nvPr>
        </p:nvSpPr>
        <p:spPr>
          <a:xfrm>
            <a:off x="637088" y="95925"/>
            <a:ext cx="8250900" cy="64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First try</a:t>
            </a:r>
            <a:endParaRPr sz="3200"/>
          </a:p>
        </p:txBody>
      </p:sp>
      <p:pic>
        <p:nvPicPr>
          <p:cNvPr id="452" name="Google Shape;452;p65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65" title="payjoin_wrong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3876" y="872075"/>
            <a:ext cx="6057350" cy="41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6"/>
          <p:cNvSpPr txBox="1"/>
          <p:nvPr>
            <p:ph type="title"/>
          </p:nvPr>
        </p:nvSpPr>
        <p:spPr>
          <a:xfrm>
            <a:off x="637088" y="95925"/>
            <a:ext cx="8250900" cy="64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First try</a:t>
            </a:r>
            <a:endParaRPr sz="3200"/>
          </a:p>
        </p:txBody>
      </p:sp>
      <p:pic>
        <p:nvPicPr>
          <p:cNvPr id="459" name="Google Shape;459;p66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6"/>
          <p:cNvSpPr txBox="1"/>
          <p:nvPr/>
        </p:nvSpPr>
        <p:spPr>
          <a:xfrm>
            <a:off x="635700" y="1607475"/>
            <a:ext cx="7872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Issue: utxo snooping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sender can spam the receiver with “I want to send you x BTC” requests and possibly learn all the UTXOs of the receiver 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7"/>
          <p:cNvSpPr txBox="1"/>
          <p:nvPr>
            <p:ph type="title"/>
          </p:nvPr>
        </p:nvSpPr>
        <p:spPr>
          <a:xfrm>
            <a:off x="1263450" y="353525"/>
            <a:ext cx="66171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Payjoin v1</a:t>
            </a:r>
            <a:endParaRPr sz="3500"/>
          </a:p>
        </p:txBody>
      </p:sp>
      <p:pic>
        <p:nvPicPr>
          <p:cNvPr id="466" name="Google Shape;466;p67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67" title="payjoin_v1_protoc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651" y="851525"/>
            <a:ext cx="8070702" cy="418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8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PSBT</a:t>
            </a:r>
            <a:endParaRPr/>
          </a:p>
        </p:txBody>
      </p:sp>
      <p:pic>
        <p:nvPicPr>
          <p:cNvPr id="473" name="Google Shape;473;p68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8"/>
          <p:cNvSpPr txBox="1"/>
          <p:nvPr/>
        </p:nvSpPr>
        <p:spPr>
          <a:xfrm>
            <a:off x="635700" y="1607475"/>
            <a:ext cx="7872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Partially signed bitcoin transaction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Need: transactions need to be built in multiple steps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Version 0: BIP174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Version 2: BIP370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It’s a data format, not a signature strategy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Despite the name, they can be unsigned or fully signed (ready for chain)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9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Payjoin v2</a:t>
            </a:r>
            <a:endParaRPr/>
          </a:p>
        </p:txBody>
      </p:sp>
      <p:pic>
        <p:nvPicPr>
          <p:cNvPr id="480" name="Google Shape;480;p69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9"/>
          <p:cNvSpPr txBox="1"/>
          <p:nvPr/>
        </p:nvSpPr>
        <p:spPr>
          <a:xfrm>
            <a:off x="635700" y="1607475"/>
            <a:ext cx="7872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v1, the receiver needed to provide a trusted HTTP server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Therefore, someone else couldn’t host the server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v2: Payjoin Directory (mailbox) was added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Payjoin Directory can be an untrusted third party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Oblivious HTTP (OHTTP) relay (also a third party)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As long as the OHTTP relay and the Payjoin Directory don’t collude, the exchange is secure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future</a:t>
            </a:r>
            <a:endParaRPr/>
          </a:p>
        </p:txBody>
      </p:sp>
      <p:pic>
        <p:nvPicPr>
          <p:cNvPr id="487" name="Google Shape;487;p70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70"/>
          <p:cNvSpPr txBox="1"/>
          <p:nvPr/>
        </p:nvSpPr>
        <p:spPr>
          <a:xfrm>
            <a:off x="635700" y="1607475"/>
            <a:ext cx="787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Multiparty exchange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1"/>
          <p:cNvSpPr txBox="1"/>
          <p:nvPr>
            <p:ph type="title"/>
          </p:nvPr>
        </p:nvSpPr>
        <p:spPr>
          <a:xfrm>
            <a:off x="637075" y="393750"/>
            <a:ext cx="82509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Payjoin vs Coinjoin</a:t>
            </a:r>
            <a:endParaRPr/>
          </a:p>
        </p:txBody>
      </p:sp>
      <p:pic>
        <p:nvPicPr>
          <p:cNvPr id="494" name="Google Shape;494;p71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71" title="coinjoin_vs_payjo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0663" y="1764625"/>
            <a:ext cx="5263733" cy="29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2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time</a:t>
            </a:r>
            <a:endParaRPr/>
          </a:p>
        </p:txBody>
      </p:sp>
      <p:pic>
        <p:nvPicPr>
          <p:cNvPr id="501" name="Google Shape;501;p72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72"/>
          <p:cNvSpPr txBox="1"/>
          <p:nvPr/>
        </p:nvSpPr>
        <p:spPr>
          <a:xfrm>
            <a:off x="635700" y="1607475"/>
            <a:ext cx="787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3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learn</a:t>
            </a:r>
            <a:endParaRPr/>
          </a:p>
        </p:txBody>
      </p:sp>
      <p:pic>
        <p:nvPicPr>
          <p:cNvPr id="508" name="Google Shape;508;p73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73"/>
          <p:cNvSpPr txBox="1"/>
          <p:nvPr/>
        </p:nvSpPr>
        <p:spPr>
          <a:xfrm>
            <a:off x="635700" y="1607475"/>
            <a:ext cx="78726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IBM Plex Sans"/>
              <a:buChar char="-"/>
            </a:pPr>
            <a:r>
              <a:rPr lang="en" sz="2000"/>
              <a:t>https://payjoin.org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4"/>
              </a:rPr>
              <a:t>https://coldcard.com/learn/bitcoin-privacy/what-is-payjoin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5"/>
              </a:rPr>
              <a:t>https://www.bullbitcoin.com/blog/what-is-payjoin-bitcoin-privacy-explained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In-depth discussion: </a:t>
            </a:r>
            <a:r>
              <a:rPr lang="en" sz="20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6"/>
              </a:rPr>
              <a:t>https://www.youtube.com/watch?v=hX86rKyNB8I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IBM Plex Sans"/>
              <a:buChar char="-"/>
            </a:pPr>
            <a:r>
              <a:rPr lang="en" sz="2000" u="sng">
                <a:solidFill>
                  <a:schemeClr val="hlink"/>
                </a:solidFill>
                <a:hlinkClick r:id="rId7"/>
              </a:rPr>
              <a:t>https://www.youtube.com/watch?v=pybCDYbrgeQ</a:t>
            </a:r>
            <a:endParaRPr sz="2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4"/>
          <p:cNvSpPr txBox="1"/>
          <p:nvPr>
            <p:ph type="title"/>
          </p:nvPr>
        </p:nvSpPr>
        <p:spPr>
          <a:xfrm>
            <a:off x="637075" y="393750"/>
            <a:ext cx="8250900" cy="115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contribute</a:t>
            </a:r>
            <a:endParaRPr/>
          </a:p>
        </p:txBody>
      </p:sp>
      <p:pic>
        <p:nvPicPr>
          <p:cNvPr id="515" name="Google Shape;515;p74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74"/>
          <p:cNvSpPr txBox="1"/>
          <p:nvPr/>
        </p:nvSpPr>
        <p:spPr>
          <a:xfrm>
            <a:off x="675950" y="1548750"/>
            <a:ext cx="7872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Start by building and running the project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Break tests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Do reviews (it’s not that scary)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4"/>
              </a:rPr>
              <a:t>https://github.com/payjoin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5"/>
              </a:rPr>
              <a:t>https://github.com/ValeraFinebits/btcpayserver-payjoin-plugin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IBM Plex Sans"/>
              <a:buChar char="-"/>
            </a:pPr>
            <a:r>
              <a:rPr lang="en" sz="2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sure how? Reach out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75" title="privacylogo3.png"/>
          <p:cNvPicPr preferRelativeResize="0"/>
          <p:nvPr/>
        </p:nvPicPr>
        <p:blipFill rotWithShape="1">
          <a:blip r:embed="rId3">
            <a:alphaModFix amt="20000"/>
          </a:blip>
          <a:srcRect b="14990" l="26113" r="23882" t="16624"/>
          <a:stretch/>
        </p:blipFill>
        <p:spPr>
          <a:xfrm>
            <a:off x="7479350" y="3868325"/>
            <a:ext cx="1408625" cy="10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75"/>
          <p:cNvSpPr txBox="1"/>
          <p:nvPr/>
        </p:nvSpPr>
        <p:spPr>
          <a:xfrm>
            <a:off x="718000" y="558625"/>
            <a:ext cx="7832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References:</a:t>
            </a:r>
            <a:endParaRPr sz="12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-"/>
            </a:pPr>
            <a:r>
              <a:rPr lang="en"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Bitcoin Fog reference 1: </a:t>
            </a:r>
            <a:r>
              <a:rPr lang="en" sz="12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4"/>
              </a:rPr>
              <a:t>https://www.justice.gov/usao-dc/pr/operator-bitcoin-fog-sentenced-more-12-years-prison-running-notorious-darknet</a:t>
            </a:r>
            <a:endParaRPr sz="12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-"/>
            </a:pPr>
            <a:r>
              <a:rPr lang="en"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Bitcoin Fog reference 2: </a:t>
            </a:r>
            <a:r>
              <a:rPr lang="en" sz="12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5"/>
              </a:rPr>
              <a:t>https://amlnetwork.org/watchdog-database/cryptocurrency-laundering/bitcoin-fog-cryptocurrency-mixer/</a:t>
            </a:r>
            <a:endParaRPr sz="12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Char char="-"/>
            </a:pPr>
            <a:r>
              <a:rPr lang="en"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Taylor Monahan on the Bitcoin Fog case: https://x.com/tayvano_/status/1387396128325263363</a:t>
            </a:r>
            <a:endParaRPr sz="12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71525"/>
      </a:dk1>
      <a:lt1>
        <a:srgbClr val="FAFAF8"/>
      </a:lt1>
      <a:dk2>
        <a:srgbClr val="3B80F5"/>
      </a:dk2>
      <a:lt2>
        <a:srgbClr val="EEEEEE"/>
      </a:lt2>
      <a:accent1>
        <a:srgbClr val="2862BE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vestor Pitch">
  <a:themeElements>
    <a:clrScheme name="Simple Light">
      <a:dk1>
        <a:srgbClr val="1A36B4"/>
      </a:dk1>
      <a:lt1>
        <a:srgbClr val="F6F5EC"/>
      </a:lt1>
      <a:dk2>
        <a:srgbClr val="1D1D1D"/>
      </a:dk2>
      <a:lt2>
        <a:srgbClr val="A4C2F4"/>
      </a:lt2>
      <a:accent1>
        <a:srgbClr val="FFFFFF"/>
      </a:accent1>
      <a:accent2>
        <a:srgbClr val="1A36B4"/>
      </a:accent2>
      <a:accent3>
        <a:srgbClr val="1D1D1D"/>
      </a:accent3>
      <a:accent4>
        <a:srgbClr val="F6F5EC"/>
      </a:accent4>
      <a:accent5>
        <a:srgbClr val="1A36B4"/>
      </a:accent5>
      <a:accent6>
        <a:srgbClr val="595959"/>
      </a:accent6>
      <a:hlink>
        <a:srgbClr val="A4C2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